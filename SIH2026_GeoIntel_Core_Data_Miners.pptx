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457200" y="594360"/>
            <a:ext cx="5120640" cy="1280160"/>
          </a:xfrm>
        </p:spPr>
        <p:txBody>
          <a:bodyPr wrap="square"/>
          <a:lstStyle/>
          <a:p>
            <a:pPr algn="l">
              <a:defRPr sz="2400" b="1">
                <a:solidFill>
                  <a:srgbClr val="1E3A8A"/>
                </a:solidFill>
                <a:latin typeface="Arial"/>
              </a:defRPr>
            </a:pPr>
            <a:r>
              <a:t>GeoIntel Core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400"/>
              </a:spcBef>
              <a:defRPr sz="1300" b="1">
                <a:solidFill>
                  <a:srgbClr val="0E7490"/>
                </a:solidFill>
                <a:latin typeface="Arial"/>
              </a:defRPr>
            </a:pPr>
            <a:r>
              <a:t>Autonomous Geological Intelligence &amp; Spatial Reporting Portal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2057400"/>
            <a:ext cx="5120640" cy="4389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Arial"/>
              </a:rPr>
              <a:t>Problem Statement ID : </a:t>
            </a:r>
            <a:r>
              <a:rPr sz="1300" b="1">
                <a:solidFill>
                  <a:srgbClr val="1E293B"/>
                </a:solidFill>
                <a:latin typeface="Arial"/>
              </a:rPr>
              <a:t>SIH26023 (Ministry of Coal / CMPDI)</a:t>
            </a:r>
            <a:endParaRPr lang="en-US" dirty="0"/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Arial"/>
              </a:rPr>
              <a:t>Problem Statement Title : </a:t>
            </a:r>
            <a:r>
              <a:rPr sz="1300" b="0">
                <a:solidFill>
                  <a:srgbClr val="1E293B"/>
                </a:solidFill>
                <a:latin typeface="Arial"/>
              </a:rPr>
              <a:t>AI-Powered Geological &amp; Mining Reporting Solution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Arial"/>
              </a:rPr>
              <a:t>Theme : </a:t>
            </a:r>
            <a:r>
              <a:rPr sz="1300" b="0">
                <a:solidFill>
                  <a:srgbClr val="1E293B"/>
                </a:solidFill>
                <a:latin typeface="Arial"/>
              </a:rPr>
              <a:t>Clean &amp; Green Technology / Smart Mining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Arial"/>
              </a:rPr>
              <a:t>PS Category : </a:t>
            </a:r>
            <a:r>
              <a:rPr sz="1300" b="0">
                <a:solidFill>
                  <a:srgbClr val="1E293B"/>
                </a:solidFill>
                <a:latin typeface="Arial"/>
              </a:rPr>
              <a:t>Software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Arial"/>
              </a:rPr>
              <a:t>Team ID : </a:t>
            </a:r>
            <a:r>
              <a:rPr sz="1300" b="0">
                <a:solidFill>
                  <a:srgbClr val="1E293B"/>
                </a:solidFill>
                <a:latin typeface="Arial"/>
              </a:rPr>
              <a:t>SIH2026-DM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3A8A"/>
                </a:solidFill>
                <a:latin typeface="Arial"/>
              </a:rPr>
              <a:t>Team Name : </a:t>
            </a:r>
            <a:r>
              <a:rPr sz="1300" b="1">
                <a:solidFill>
                  <a:srgbClr val="C2410C"/>
                </a:solidFill>
                <a:latin typeface="Arial"/>
              </a:rPr>
              <a:t>data_miners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l">
              <a:defRPr sz="2000" b="1">
                <a:solidFill>
                  <a:srgbClr val="1E3A8A"/>
                </a:solidFill>
                <a:latin typeface="Arial"/>
              </a:defRPr>
            </a:pPr>
            <a:r>
              <a:t>IDEA TITLE: GeoIntel Core - Autonomous Mining Intelligence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data_miners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548640" y="1143000"/>
            <a:ext cx="6217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Proposed Solution &amp; Prototype: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Autonomous multimodal system for CMPDI borehole logs, Detailed Project Reports (DPRs), and CIL production data.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Functional split-screen prototype with real-time PyMuPDF spatial coordinate auditing.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Core Engineering Capabilities: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Spatial Vector Grounding: Extracts [x0, y0, x1, y1] coordinates per token for 100% auditable citations.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Dynamic View Synchronization: Citation bounding boxes update live on page navigation.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Autonomous Report Studio: Synthesizes executive briefs &amp; DOCX files following custom engineering directives.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Pan-CIL Production Analytics: Benchmarks coal extraction, stripping ratios, and OBR across 8 subsidiaries.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Problem Addressed &amp; Innovation: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Replaces manual multi-week PDF cross-referencing with sub-second verified semantic retrieval.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Zero Hallucination Guarantee: Every assertion is bound to verifiable text in official government documents.</a:t>
            </a:r>
          </a:p>
        </p:txBody>
      </p:sp>
      <p:pic>
        <p:nvPicPr>
          <p:cNvPr id="15363" name="Picture 15362" descr="feature_chat_spl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188720"/>
            <a:ext cx="4663440" cy="2546295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6949440" y="548640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i="1">
                <a:solidFill>
                  <a:srgbClr val="334155"/>
                </a:solidFill>
                <a:latin typeface="Arial"/>
              </a:defRPr>
            </a:pPr>
            <a:r>
              <a:t>Figure 1: GeoIntel Core Live Split-Screen RAG Assistant with Dynamic Spatial Bounding-Box Audit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data_miners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1143000"/>
            <a:ext cx="51206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Technologies to be Used: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Frontend: React 18, Vite, Tailwind CSS, Lucide Icons, dynamic SVG coordinate overlays.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Backend API: FastAPI, Python 3.12, Uvicorn, asynchronous multipart streaming endpoints.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Spatial Extraction: PyMuPDF (Fitz) token parser preserving geometry &amp; table bounding boxes.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Vector Database: ChromaDB persistent vector store with 384-dim dense embeddings.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Inference Hardware: Groq LPU Hardware Acceleration (LLaMA 3.3 70B &amp; Qwen 2.5 32B).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Multi-Format Synthesis: ReportLab PDF engine, python-docx compiler, Markdown exporter.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Methodology &amp; Implementation Pipeline: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1. Harvester: Ministry of Coal web scraper &amp; instant drag-and-drop document ingestion.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2. Spatial Indexing: Sliding-window chunking retaining exact pixel bounding coordinates.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3. Grounded Retrieval: Hybrid search combining dense vectors with inverted keyword indices.</a:t>
            </a:r>
          </a:p>
          <a:p>
            <a:pPr lvl="1">
              <a:spcAft>
                <a:spcPts val="2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4. Resilient Synthesis: Dynamic token budgeting with local extractive fallback.</a:t>
            </a:r>
          </a:p>
        </p:txBody>
      </p:sp>
      <p:pic>
        <p:nvPicPr>
          <p:cNvPr id="17411" name="Picture 17410" descr="architectur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188720"/>
            <a:ext cx="5760720" cy="3271520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5852160" y="544068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i="1">
                <a:solidFill>
                  <a:srgbClr val="334155"/>
                </a:solidFill>
                <a:latin typeface="Arial"/>
              </a:defRPr>
            </a:pPr>
            <a:r>
              <a:t>Figure 2: GeoIntel Core End-to-End 4-Stage Multimodal Architecture (Team data_miners)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data_miners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1143000"/>
            <a:ext cx="6217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Feasibility &amp; Operational Viability:</a:t>
            </a:r>
          </a:p>
          <a:p>
            <a:pPr lvl="1">
              <a:spcAft>
                <a:spcPts val="3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Validated on 100+ multi-page geological documents, CIL annual reviews, and detailed mine plans.</a:t>
            </a:r>
          </a:p>
          <a:p>
            <a:pPr lvl="1">
              <a:spcAft>
                <a:spcPts val="3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Sub-second vector indexing: Parses 50-page complex DPRs in under 3.2 seconds.</a:t>
            </a:r>
          </a:p>
          <a:p>
            <a:pPr lvl="1">
              <a:spcAft>
                <a:spcPts val="3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Enterprise Deployment: Containerized microservices ready for secure on-premises CIL servers.</a:t>
            </a:r>
          </a:p>
          <a:p>
            <a:pPr lvl="1">
              <a:spcAft>
                <a:spcPts val="3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100% Data Sovereignty: Zero external data exposure of confidential exploration reserves.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Operational Challenges &amp; Mitigations:</a:t>
            </a:r>
          </a:p>
          <a:p>
            <a:pPr lvl="1">
              <a:spcAft>
                <a:spcPts val="3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API Rate Limiting: Resilient token budgeting (2200 max tokens) with exponential backoff retry.</a:t>
            </a:r>
          </a:p>
          <a:p>
            <a:pPr lvl="1">
              <a:spcAft>
                <a:spcPts val="3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Network Outage Tolerance: Local extractive fallback ensures zero system downtime.</a:t>
            </a:r>
          </a:p>
          <a:p>
            <a:pPr lvl="1">
              <a:spcAft>
                <a:spcPts val="3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Heterogeneous Archives: PyMuPDF token normalization adapts to any PDF format or scan geometry.</a:t>
            </a:r>
          </a:p>
        </p:txBody>
      </p:sp>
      <p:pic>
        <p:nvPicPr>
          <p:cNvPr id="17411" name="Picture 17410" descr="feature_document_reposi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188720"/>
            <a:ext cx="4663440" cy="2349795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949440" y="544068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i="1">
                <a:solidFill>
                  <a:srgbClr val="334155"/>
                </a:solidFill>
                <a:latin typeface="Arial"/>
              </a:defRPr>
            </a:pPr>
            <a:r>
              <a:t>Figure 3: Official Document Repository &amp; Ingestion Hub (ChromaDB Vector Indexing &amp; Live Scraper)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data_miners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1143000"/>
            <a:ext cx="6217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Direct Impact on Target Stakeholders:</a:t>
            </a:r>
          </a:p>
          <a:p>
            <a:pPr lvl="1">
              <a:spcAft>
                <a:spcPts val="3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CMPDI Geologists: Instant lookup of Gondwana stratigraphy, Barakar formations, and regional meterage.</a:t>
            </a:r>
          </a:p>
          <a:p>
            <a:pPr lvl="1">
              <a:spcAft>
                <a:spcPts val="3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Mine Planning Officers: Real-time tracking of Overburden Removal (OBR), stripping ratios, and productivity.</a:t>
            </a:r>
          </a:p>
          <a:p>
            <a:pPr lvl="1">
              <a:spcAft>
                <a:spcPts val="3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Ministry of Coal Leadership: Board-level summaries compiled in minutes rather than weeks.</a:t>
            </a:r>
          </a:p>
          <a:p>
            <a:pPr>
              <a:spcBef>
                <a:spcPts val="500"/>
              </a:spcBef>
              <a:spcAft>
                <a:spcPts val="200"/>
              </a:spcAft>
            </a:pPr>
            <a:r>
              <a:rPr sz="1200" b="1">
                <a:solidFill>
                  <a:srgbClr val="1E3A8A"/>
                </a:solidFill>
                <a:latin typeface="Arial"/>
              </a:rPr>
              <a:t>Quantifiable Strategic Benefits:</a:t>
            </a:r>
          </a:p>
          <a:p>
            <a:pPr lvl="1">
              <a:spcAft>
                <a:spcPts val="3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85% Time Savings: Accelerates technical assessment and Detailed Project Report (DPR) evaluation.</a:t>
            </a:r>
          </a:p>
          <a:p>
            <a:pPr lvl="1">
              <a:spcAft>
                <a:spcPts val="3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Auditable Provenance: Spatial bounding boxes eliminate regulatory disputes and non-compliance risk.</a:t>
            </a:r>
          </a:p>
          <a:p>
            <a:pPr lvl="1">
              <a:spcAft>
                <a:spcPts val="3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Pan-CIL Scalability: Turnkey deployment across all 8 Coal India operational subsidiaries.</a:t>
            </a:r>
          </a:p>
          <a:p>
            <a:pPr lvl="1">
              <a:spcAft>
                <a:spcPts val="300"/>
              </a:spcAft>
            </a:pPr>
            <a:r>
              <a:rPr sz="950">
                <a:solidFill>
                  <a:srgbClr val="334155"/>
                </a:solidFill>
                <a:latin typeface="Arial"/>
              </a:rPr>
              <a:t>• Zero Cloud Licensing: Fully self-contained stack with zero per-query commercial subscriptions.</a:t>
            </a:r>
          </a:p>
        </p:txBody>
      </p:sp>
      <p:pic>
        <p:nvPicPr>
          <p:cNvPr id="17411" name="Picture 17410" descr="feature_analytics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188720"/>
            <a:ext cx="4663440" cy="3217412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949440" y="544068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i="1">
                <a:solidFill>
                  <a:srgbClr val="334155"/>
                </a:solidFill>
                <a:latin typeface="Arial"/>
              </a:defRPr>
            </a:pPr>
            <a:r>
              <a:t>Figure 4: Geological Analytics Word Cloud &amp; Subsidiary Production Metrics Dashboard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data_miners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548640" y="1143000"/>
            <a:ext cx="6217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300" b="1">
                <a:solidFill>
                  <a:srgbClr val="1E3A8A"/>
                </a:solidFill>
                <a:latin typeface="Arial"/>
              </a:rPr>
              <a:t>Project Repository &amp; Reference Documentation:</a:t>
            </a:r>
          </a:p>
          <a:p>
            <a:pPr lvl="1">
              <a:spcAft>
                <a:spcPts val="400"/>
              </a:spcAft>
            </a:pPr>
            <a:r>
              <a:rPr sz="1000" b="1">
                <a:solidFill>
                  <a:srgbClr val="0E7490"/>
                </a:solidFill>
                <a:latin typeface="Arial"/>
              </a:rPr>
              <a:t>• GitHub Repository: https://github.com/Sankar7567/data_miners (Full source code, API, and setup guide).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Ministry of Coal, GoI: Guidelines for Preparation of Mine Plans &amp; Mine Closure Plans — coal.gov.in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Central Mine Planning &amp; Design Institute (CMPDI): Annual Geological Exploration &amp; Drilling Reports — cmpdi.co.in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Coal India Limited (CIL): Operational Performance Reviews &amp; Business Responsibility Reports — coalindia.in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Directorate General of Mines Safety (DGMS): Statutory Operational Guidelines &amp; Safety Circulars.</a:t>
            </a:r>
          </a:p>
          <a:p>
            <a:pPr lvl="1">
              <a:spcAft>
                <a:spcPts val="400"/>
              </a:spcAft>
            </a:pPr>
            <a:r>
              <a:rPr sz="1000">
                <a:solidFill>
                  <a:srgbClr val="334155"/>
                </a:solidFill>
                <a:latin typeface="Arial"/>
              </a:rPr>
              <a:t>• PyMuPDF &amp; ChromaDB: Open-source spatial coordinate extraction and high-density vector retrieval.</a:t>
            </a:r>
          </a:p>
        </p:txBody>
      </p:sp>
      <p:pic>
        <p:nvPicPr>
          <p:cNvPr id="17411" name="Picture 17410" descr="feature_report_stud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188720"/>
            <a:ext cx="4663440" cy="2494398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949440" y="544068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i="1">
                <a:solidFill>
                  <a:srgbClr val="334155"/>
                </a:solidFill>
                <a:latin typeface="Arial"/>
              </a:defRPr>
            </a:pPr>
            <a:r>
              <a:t>Figure 5: Autonomous Report Studio with Custom Engineering Directives &amp; Multi-Format Synthesis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