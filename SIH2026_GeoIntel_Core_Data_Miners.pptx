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57200" y="594360"/>
            <a:ext cx="4114800" cy="1280160"/>
          </a:xfrm>
        </p:spPr>
        <p:txBody>
          <a:bodyPr wrap="square"/>
          <a:lstStyle/>
          <a:p>
            <a:pPr algn="l">
              <a:defRPr sz="2400" b="1">
                <a:solidFill>
                  <a:srgbClr val="1E3A8A"/>
                </a:solidFill>
                <a:latin typeface="Arial"/>
              </a:defRPr>
            </a:pPr>
            <a:r>
              <a:t>GeoIntel Core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00"/>
              </a:spcBef>
              <a:defRPr sz="1300" b="1">
                <a:solidFill>
                  <a:srgbClr val="0E7490"/>
                </a:solidFill>
                <a:latin typeface="Arial"/>
              </a:defRPr>
            </a:pPr>
            <a:r>
              <a:t>Autonomous Geological Intelligence &amp; Spatial Reporting Portal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120640" cy="438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Problem Statement ID : </a:t>
            </a:r>
            <a:r>
              <a:rPr sz="1300" b="1">
                <a:solidFill>
                  <a:srgbClr val="1E293B"/>
                </a:solidFill>
                <a:latin typeface="Arial"/>
              </a:rPr>
              <a:t>SIH26023 (Ministry of Coal / CMPDI)</a:t>
            </a:r>
            <a:endParaRPr lang="en-US" dirty="0"/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Problem Statement Title : </a:t>
            </a:r>
            <a:r>
              <a:rPr sz="1300" b="0">
                <a:solidFill>
                  <a:srgbClr val="1E293B"/>
                </a:solidFill>
                <a:latin typeface="Arial"/>
              </a:rPr>
              <a:t>AI-Powered Geological &amp; Mining Reporting Solution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Theme : </a:t>
            </a:r>
            <a:r>
              <a:rPr sz="1300" b="0">
                <a:solidFill>
                  <a:srgbClr val="1E293B"/>
                </a:solidFill>
                <a:latin typeface="Arial"/>
              </a:rPr>
              <a:t>Clean &amp; Green Technology / Smart Mining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PS Category : </a:t>
            </a:r>
            <a:r>
              <a:rPr sz="1300" b="0">
                <a:solidFill>
                  <a:srgbClr val="1E293B"/>
                </a:solidFill>
                <a:latin typeface="Arial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Team ID : </a:t>
            </a:r>
            <a:r>
              <a:rPr sz="1300" b="0">
                <a:solidFill>
                  <a:srgbClr val="1E293B"/>
                </a:solidFill>
                <a:latin typeface="Arial"/>
              </a:rPr>
              <a:t>SIH2026-DM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Team Name : </a:t>
            </a:r>
            <a:r>
              <a:rPr sz="1300" b="1">
                <a:solidFill>
                  <a:srgbClr val="C2410C"/>
                </a:solidFill>
                <a:latin typeface="Arial"/>
              </a:rPr>
              <a:t>data_miners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>
              <a:defRPr sz="2000" b="1">
                <a:solidFill>
                  <a:srgbClr val="1E3A8A"/>
                </a:solidFill>
                <a:latin typeface="Arial"/>
              </a:defRPr>
            </a:pPr>
            <a:r>
              <a:t>IDEA TITLE: GeoIntel Core - Autonomous Mining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data_miners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48640" y="1143000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Arial"/>
              </a:rPr>
              <a:t>Proposed Solution: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Autonomous system for CMPDI logs &amp; CIL data.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Split-screen prototype with real-time auditing.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Arial"/>
              </a:rPr>
              <a:t>Core Capabilities: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Spatial Vector Grounding: Extract precise coordinates for citations.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Dynamic View: Bounding boxes update live.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Report Studio: Generate executive DOCX briefs autonomously.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Pan-CIL Analytics: Benchmark stripping ratios &amp; OBR across subsidiaries.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Arial"/>
              </a:rPr>
              <a:t>Innovation: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Sub-second semantic retrieval replaces manual verification.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Zero Hallucinations: Assertions bound to official text.</a:t>
            </a:r>
          </a:p>
        </p:txBody>
      </p:sp>
      <p:pic>
        <p:nvPicPr>
          <p:cNvPr id="15363" name="Picture 15362" descr="feature_chat_spl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188720"/>
            <a:ext cx="4663440" cy="2546295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6949440" y="54864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334155"/>
                </a:solidFill>
                <a:latin typeface="Arial"/>
              </a:defRPr>
            </a:pPr>
            <a:r>
              <a:t>Figure 1: GeoIntel Core Live Split-Screen RAG Assistant with Dynamic Spatial Bounding-Box Audit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data_miners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48640" y="114300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Arial"/>
              </a:rPr>
              <a:t>Tech Stack: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Frontend: React 18, Vite, Tailwind CSS.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Backend: FastAPI, Python 3.12, Uvicorn.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Parsing: PyMuPDF (Fitz) for spatial extraction.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Vector DB: ChromaDB for embeddings.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AI Hardware: Groq LPU (LLaMA 3.3 &amp; Qwen 2.5).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Output: ReportLab, python-docx.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Arial"/>
              </a:rPr>
              <a:t>Methodology: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1. Harvester: Automated web scraper &amp; PDF ingestion.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2. Indexing: Sliding-window chunking with spatial data.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3. Retrieval: Hybrid search (dense vectors + keywords).</a:t>
            </a:r>
          </a:p>
          <a:p>
            <a:pPr lvl="1"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4. Synthesis: Dynamic generation with local fallback.</a:t>
            </a:r>
          </a:p>
        </p:txBody>
      </p:sp>
      <p:pic>
        <p:nvPicPr>
          <p:cNvPr id="17411" name="Picture 17410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188720"/>
            <a:ext cx="5760720" cy="327152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5852160" y="544068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334155"/>
                </a:solidFill>
                <a:latin typeface="Arial"/>
              </a:defRPr>
            </a:pPr>
            <a:r>
              <a:t>Figure 2: GeoIntel Core End-to-End 4-Stage Multimodal Architecture (Team data_miners)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data_miners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48640" y="1143000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Arial"/>
              </a:rPr>
              <a:t>Feasibility &amp; Viability:</a:t>
            </a:r>
          </a:p>
          <a:p>
            <a:pPr lvl="1"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Validated on 100+ official geological documents.</a:t>
            </a:r>
          </a:p>
          <a:p>
            <a:pPr lvl="1"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Lightning Fast: Parses 50-page DPRs in &lt; 3.2s.</a:t>
            </a:r>
          </a:p>
          <a:p>
            <a:pPr lvl="1"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Enterprise Ready: Containerized microservices.</a:t>
            </a:r>
          </a:p>
          <a:p>
            <a:pPr lvl="1"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Data Sovereignty: 100% secure, zero external exposure.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Arial"/>
              </a:rPr>
              <a:t>Challenges &amp; Mitigations:</a:t>
            </a:r>
          </a:p>
          <a:p>
            <a:pPr lvl="1"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Rate Limits: Resilient token budgeting &amp; retries.</a:t>
            </a:r>
          </a:p>
          <a:p>
            <a:pPr lvl="1"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Network Outages: Local extractive fallback.</a:t>
            </a:r>
          </a:p>
          <a:p>
            <a:pPr lvl="1"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Complex Formats: PyMuPDF adapts to any scan geometry.</a:t>
            </a:r>
          </a:p>
        </p:txBody>
      </p:sp>
      <p:pic>
        <p:nvPicPr>
          <p:cNvPr id="17411" name="Picture 17410" descr="feature_document_reposi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188720"/>
            <a:ext cx="4663440" cy="2349795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949440" y="54406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334155"/>
                </a:solidFill>
                <a:latin typeface="Arial"/>
              </a:defRPr>
            </a:pPr>
            <a:r>
              <a:t>Figure 3: Official Document Repository &amp; Ingestion Hub (ChromaDB Vector Indexing &amp; Live Scraper)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data_miners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48640" y="1143000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Arial"/>
              </a:rPr>
              <a:t>Stakeholder Impact:</a:t>
            </a:r>
          </a:p>
          <a:p>
            <a:pPr lvl="1"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Geologists: Instant lookup of stratigraphy &amp; formations.</a:t>
            </a:r>
          </a:p>
          <a:p>
            <a:pPr lvl="1"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Planning Officers: Real-time OBR &amp; productivity tracking.</a:t>
            </a:r>
          </a:p>
          <a:p>
            <a:pPr lvl="1"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Ministry Leadership: Summaries in minutes, not weeks.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Arial"/>
              </a:rPr>
              <a:t>Strategic Benefits:</a:t>
            </a:r>
          </a:p>
          <a:p>
            <a:pPr lvl="1"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85% Time Savings in DPR evaluation.</a:t>
            </a:r>
          </a:p>
          <a:p>
            <a:pPr lvl="1"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Auditable Provenance eliminates regulatory disputes.</a:t>
            </a:r>
          </a:p>
          <a:p>
            <a:pPr lvl="1"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Scalable across all 8 Coal India subsidiaries.</a:t>
            </a:r>
          </a:p>
          <a:p>
            <a:pPr lvl="1">
              <a:spcAft>
                <a:spcPts val="3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Zero Cloud Licensing cost (self-contained stack).</a:t>
            </a:r>
          </a:p>
        </p:txBody>
      </p:sp>
      <p:pic>
        <p:nvPicPr>
          <p:cNvPr id="17411" name="Picture 17410" descr="feature_analytics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188720"/>
            <a:ext cx="4663440" cy="3217412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949440" y="54406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334155"/>
                </a:solidFill>
                <a:latin typeface="Arial"/>
              </a:defRPr>
            </a:pPr>
            <a:r>
              <a:t>Figure 4: Geological Analytics Word Cloud &amp; Subsidiary Production Metrics Dashboard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data_miners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48640" y="1143000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00" b="1">
                <a:solidFill>
                  <a:srgbClr val="1E3A8A"/>
                </a:solidFill>
                <a:latin typeface="Arial"/>
              </a:rPr>
              <a:t>References &amp; Links:</a:t>
            </a:r>
          </a:p>
          <a:p>
            <a:pPr lvl="1">
              <a:spcAft>
                <a:spcPts val="400"/>
              </a:spcAft>
            </a:pPr>
            <a:r>
              <a:rPr sz="1000" b="1">
                <a:solidFill>
                  <a:srgbClr val="0E7490"/>
                </a:solidFill>
                <a:latin typeface="Arial"/>
              </a:rPr>
              <a:t>• GitHub Repository: https://github.com/Sankar7567/data_miners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Arial"/>
              </a:rPr>
              <a:t>• Ministry of Coal: Guidelines for Mine Plans (coal.gov.in)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Arial"/>
              </a:rPr>
              <a:t>• CMPDI: Annual Exploration Reports (cmpdi.co.in)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Arial"/>
              </a:rPr>
              <a:t>• Coal India (CIL): Operational Reviews (coalindia.in)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Arial"/>
              </a:rPr>
              <a:t>• DGMS: Statutory Safety Circulars.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Arial"/>
              </a:rPr>
              <a:t>• Libraries: PyMuPDF &amp; ChromaDB.</a:t>
            </a:r>
          </a:p>
        </p:txBody>
      </p:sp>
      <p:pic>
        <p:nvPicPr>
          <p:cNvPr id="17411" name="Picture 17410" descr="feature_report_stud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188720"/>
            <a:ext cx="4663440" cy="2494398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949440" y="54406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i="1">
                <a:solidFill>
                  <a:srgbClr val="334155"/>
                </a:solidFill>
                <a:latin typeface="Arial"/>
              </a:defRPr>
            </a:pPr>
            <a:r>
              <a:t>Figure 5: Autonomous Report Studio with Custom Engineering Directives &amp; Multi-Format Synthesis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